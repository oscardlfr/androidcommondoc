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la iniciativa. AndroidCommonDoc es nuestro toolkit L0: fuente única de verdad para scripts, habilidades de IA, reglas de arquitectura y documentación. Instalas una vez y se usa en todos los proyectos.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 en 30 segundos: un repositorio con todos los patrones, scripts y habilidades. Proyectos heredan por sincronización. Las violaciones se detectan en compilación. Los agentes comparten las mismas habilidades.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Antes: cada proyecto tenía su propio script, los agentes leían 200+ líneas de Gradle, la deriva de versiones se descubría en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idea central: separar estructura de ejecución. Los scripts hacen el trabajo pesado. Las habilidades indican al agente qué hacer. Las reglas aplican decisiones. El servidor MCP hace el toolkit programable.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de capas. L0 define la línea base canónica. La sincronización es pull-based y verificada por hash. La configuración Detekt usa CompositeConfig: L1 sobreescribe solo lo que necesita.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reglas Detekt solo usan AST para evitar un bug conocido de ClassCastException. El servidor MCP usa transporte stdio. Las habilidades son Markdown, sin dependencia de proveedor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el toolkit el agente lee 200+ líneas de Gradle. Con él recibe una tabla Markdown de resultados. La habilidad /coverage prohíbe explícitamente leer archivos XML. Reducción de tokens: ~25x.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reglas son solo AST. Detectan antipatrones que superan la revisión de código. Cero falsos positivos: companion object queda correctamente excluido. Adopción en una línea con el plugin de convención.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workflows reutilizables permiten que cada app obtenga CI importando un archivo. Los hooks son shift-left: violaciones antes del commit. El orchestrator ejecuta las 5 puertas y produce un único PASS/FAIL.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unitarios para toda la lógica de negocio. Los estructurales detectan deriva arquitectónica antes de que sea deuda técnica. Las herramientas de cobertura identifican líneas no probadas y generan esqueletos. /pre-pr orquesta todo antes del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Transporte stdio: sin servidor de red que mantener. Rate limited a 30 llamadas/min. monitor-sources es basado en señales: solo analiza notas del release cuando la versión cambia. Los cambios en docs se detectan por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ROI: 20 ejecuciones al día suponen ~1M tokens/mes ahorrados por desarrollador. Cada violación en CI ahorra ~30 min de ronda de PR. Nuevos proyectos de días a minutos. Sin sorpresas en el lanzamiento.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/pre-pr impidió PRs incompletos. /auto-cover identificó cobertura perdida en UseCases. sync-l0 propagó habilidades en menos de un minuto. El hook detectó CancellationException silenciada por autocompletado de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SBOM mantiene inventario de software para cada release. El guardia de feature gate es nivel crítico: previene bypass de facturación. NoGlobalScope previene fugas de corrutinas. Paralelo reduce minutos de CI en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Proceso de incorporación: 5 pasos, menos de 15 minutos para un proyecto nuevo. El setup-toolkit.sh instala hooks, instrucciones de Copilot y el plugin de convención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Prioridades a corto plazo: emitBaselineConfig conectado al MCP. La adopción de workflows en DawSync es el primer adoptante L2 de los workflows reutilizables. Monitoreo v2: señal de calidad frente al ruido de palabras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/pre-pr funciona inmediatamente sin configuración. sync-l0 es la puerta de entrada al toolkit completo. Reglas Detekt requieren plugin de convención (10 min). MCP server: npm start en mcp-server/.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visible durante las preguntas. URL pública: compartir en el chat.</a:t>
            </a:r>
          </a:p>
          <a:p>
            <a:r>
              <a:t>Mensaje clave: el toolkit está listo para producción, probado, y adoptarlo lleva menos de 15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0160" y="1463040"/>
            <a:ext cx="9601200" cy="39319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463040"/>
            <a:ext cx="91440" cy="3931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1645920"/>
            <a:ext cx="3200400" cy="3200400"/>
          </a:xfrm>
          <a:prstGeom prst="rect">
            <a:avLst/>
          </a:prstGeom>
          <a:solidFill>
            <a:srgbClr val="0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2103120"/>
            <a:ext cx="2286000" cy="2286000"/>
          </a:xfrm>
          <a:prstGeom prst="rect">
            <a:avLst/>
          </a:prstGeom>
          <a:solidFill>
            <a:srgbClr val="07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0" y="822960"/>
            <a:ext cx="73152" cy="5303520"/>
          </a:xfrm>
          <a:prstGeom prst="rect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4D8"/>
                </a:solidFill>
              </a:rPr>
              <a:t>AndroidCommonDoc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34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Kit centralizado para Android y Kotlin Multiplatform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11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0B0"/>
                </a:solidFill>
              </a:rPr>
              <a:t>Presentación de ingeniería  |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E0EF"/>
                </a:solidFill>
              </a:rPr>
              <a:t>Escalable  ·  Multiplataforma  ·  Nativo para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Resumen ejecutivo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Fuente única de verdad para todos los estándares de desarrollo Android y KMP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33 habilidades de IA compartidas entre Claude Code y GitHub Copilot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13 reglas Detekt personalizadas aplicadas en tiempo de compilación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17 herramientas MCP para validación programática y monitoreo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Proyectos descendentes heredan mediante registro + manifiesto + sincronización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280160"/>
            <a:ext cx="2331720" cy="1143000"/>
          </a:xfrm>
          <a:prstGeom prst="rect">
            <a:avLst/>
          </a:prstGeom>
          <a:solidFill>
            <a:srgbClr val="1E38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1280160"/>
            <a:ext cx="2331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35331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828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Habilidades de 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1280160"/>
            <a:ext cx="2331720" cy="1143000"/>
          </a:xfrm>
          <a:prstGeom prst="rect">
            <a:avLst/>
          </a:prstGeom>
          <a:solidFill>
            <a:srgbClr val="1E3852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1280160"/>
            <a:ext cx="2331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35331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CC71"/>
                </a:solidFill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828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Reglas Detekt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560320"/>
            <a:ext cx="2331720" cy="1143000"/>
          </a:xfrm>
          <a:prstGeom prst="rect">
            <a:avLst/>
          </a:prstGeom>
          <a:solidFill>
            <a:srgbClr val="1E3852"/>
          </a:solidFill>
          <a:ln w="1905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560320"/>
            <a:ext cx="2331720" cy="54864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63347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39612"/>
                </a:solidFill>
              </a:rPr>
              <a:t>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1089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Herramientas MCP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2560320"/>
            <a:ext cx="2331720" cy="1143000"/>
          </a:xfrm>
          <a:prstGeom prst="rect">
            <a:avLst/>
          </a:prstGeom>
          <a:solidFill>
            <a:srgbClr val="1E3852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81160" y="2560320"/>
            <a:ext cx="233172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2633472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9B59B6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1089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Capas L0/L1/L2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3886200"/>
            <a:ext cx="4846320" cy="1828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4023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Mision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343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Instalar una vez · Usar en todos los proyectos · Sin duplicación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El 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Scripts duplicados en cada proyecto: misma corrección N veces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Patrones inconsistentes generan fricción en revisiones y errores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Los agentes de IA consumen hasta 50 000 tokens por ejecución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Sin detección de cambios o deprecaciones en librerías externas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Los patrones están documentados pero no se verifican automáticamente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234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Sin toolkit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600200"/>
            <a:ext cx="2286000" cy="594360"/>
          </a:xfrm>
          <a:prstGeom prst="rect">
            <a:avLst/>
          </a:prstGeom>
          <a:solidFill>
            <a:srgbClr val="2A1010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64591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AA"/>
                </a:solidFill>
              </a:rPr>
              <a:t>Scripts distintos en cada proyecto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350008"/>
            <a:ext cx="2286000" cy="594360"/>
          </a:xfrm>
          <a:prstGeom prst="rect">
            <a:avLst/>
          </a:prstGeom>
          <a:solidFill>
            <a:srgbClr val="2A1010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395727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AA"/>
                </a:solidFill>
              </a:rPr>
              <a:t>50 000 tokens por ejecución de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099815"/>
            <a:ext cx="2286000" cy="594360"/>
          </a:xfrm>
          <a:prstGeom prst="rect">
            <a:avLst/>
          </a:prstGeom>
          <a:solidFill>
            <a:srgbClr val="2A1010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145535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AA"/>
                </a:solidFill>
              </a:rPr>
              <a:t>Patrones solo en documentos Word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849624"/>
            <a:ext cx="2286000" cy="594360"/>
          </a:xfrm>
          <a:prstGeom prst="rect">
            <a:avLst/>
          </a:prstGeom>
          <a:solidFill>
            <a:srgbClr val="2A1010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89534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AA"/>
                </a:solidFill>
              </a:rPr>
              <a:t>Errores descubiertos en producción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123443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Con toolkit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1600200"/>
            <a:ext cx="2331720" cy="594360"/>
          </a:xfrm>
          <a:prstGeom prst="rect">
            <a:avLst/>
          </a:prstGeom>
          <a:solidFill>
            <a:srgbClr val="0A2A15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1645919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FFB0"/>
                </a:solidFill>
              </a:rPr>
              <a:t>Un script, todos los proyectos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2350008"/>
            <a:ext cx="2331720" cy="594360"/>
          </a:xfrm>
          <a:prstGeom prst="rect">
            <a:avLst/>
          </a:prstGeom>
          <a:solidFill>
            <a:srgbClr val="0A2A15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2395727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FFB0"/>
                </a:solidFill>
              </a:rPr>
              <a:t>2 000 tokens (reducción x25)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3099815"/>
            <a:ext cx="2331720" cy="594360"/>
          </a:xfrm>
          <a:prstGeom prst="rect">
            <a:avLst/>
          </a:prstGeom>
          <a:solidFill>
            <a:srgbClr val="0A2A15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3145535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FFB0"/>
                </a:solidFill>
              </a:rPr>
              <a:t>Reglas Detekt en compilación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3849624"/>
            <a:ext cx="2331720" cy="594360"/>
          </a:xfrm>
          <a:prstGeom prst="rect">
            <a:avLst/>
          </a:prstGeom>
          <a:solidFill>
            <a:srgbClr val="0A2A15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389534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FFB0"/>
                </a:solidFill>
              </a:rPr>
              <a:t>Violaciones detectadas en 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Visión general de la 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Toolkit L0 centralizado: instalar una vez, usar en todos los proyectos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Scripts multiplataforma (PowerShell + Bash) con comportamiento idéntico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Habilidades de IA en Markdown, invocables desde Claude Code o 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Reglas Detekt aplican la arquitectura en compilación (coste cero en runtime)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Servidor MCP expone 17 herramientas para CI y automatización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325880"/>
            <a:ext cx="2103120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325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AndroidCommonDoc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423160"/>
            <a:ext cx="1691640" cy="548640"/>
          </a:xfrm>
          <a:prstGeom prst="rect">
            <a:avLst/>
          </a:prstGeom>
          <a:solidFill>
            <a:srgbClr val="1E3852"/>
          </a:solidFill>
          <a:ln w="1016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4231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Scripts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423160"/>
            <a:ext cx="1691640" cy="548640"/>
          </a:xfrm>
          <a:prstGeom prst="rect">
            <a:avLst/>
          </a:prstGeom>
          <a:solidFill>
            <a:srgbClr val="1E3852"/>
          </a:solidFill>
          <a:ln w="1016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4231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Habilidades 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423160"/>
            <a:ext cx="1691640" cy="548640"/>
          </a:xfrm>
          <a:prstGeom prst="rect">
            <a:avLst/>
          </a:prstGeom>
          <a:solidFill>
            <a:srgbClr val="1E3852"/>
          </a:solidFill>
          <a:ln w="1016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4231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Reglas Detekt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3611879"/>
            <a:ext cx="1691640" cy="548640"/>
          </a:xfrm>
          <a:prstGeom prst="rect">
            <a:avLst/>
          </a:prstGeom>
          <a:solidFill>
            <a:srgbClr val="1E3852"/>
          </a:solidFill>
          <a:ln w="1016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6118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Servidor MCP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611879"/>
            <a:ext cx="1691640" cy="548640"/>
          </a:xfrm>
          <a:prstGeom prst="rect">
            <a:avLst/>
          </a:prstGeom>
          <a:solidFill>
            <a:srgbClr val="1E3852"/>
          </a:solidFill>
          <a:ln w="1016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36118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Docs &amp; Vault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20940" y="1691640"/>
            <a:ext cx="1668780" cy="18288"/>
          </a:xfrm>
          <a:prstGeom prst="rect">
            <a:avLst/>
          </a:prstGeom>
          <a:solidFill>
            <a:srgbClr val="33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55329" y="1691640"/>
            <a:ext cx="18288" cy="1005839"/>
          </a:xfrm>
          <a:prstGeom prst="rect">
            <a:avLst/>
          </a:prstGeom>
          <a:solidFill>
            <a:srgbClr val="33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75420" y="1691640"/>
            <a:ext cx="114300" cy="18288"/>
          </a:xfrm>
          <a:prstGeom prst="rect">
            <a:avLst/>
          </a:prstGeom>
          <a:solidFill>
            <a:srgbClr val="33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32570" y="1691640"/>
            <a:ext cx="18288" cy="1005839"/>
          </a:xfrm>
          <a:prstGeom prst="rect">
            <a:avLst/>
          </a:prstGeom>
          <a:solidFill>
            <a:srgbClr val="33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1691640"/>
            <a:ext cx="1440179" cy="18288"/>
          </a:xfrm>
          <a:prstGeom prst="rect">
            <a:avLst/>
          </a:prstGeom>
          <a:solidFill>
            <a:srgbClr val="33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09810" y="1691640"/>
            <a:ext cx="18288" cy="1005839"/>
          </a:xfrm>
          <a:prstGeom prst="rect">
            <a:avLst/>
          </a:prstGeom>
          <a:solidFill>
            <a:srgbClr val="33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8140" y="1691640"/>
            <a:ext cx="1211580" cy="18288"/>
          </a:xfrm>
          <a:prstGeom prst="rect">
            <a:avLst/>
          </a:prstGeom>
          <a:solidFill>
            <a:srgbClr val="33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83930" y="1691640"/>
            <a:ext cx="18288" cy="2194560"/>
          </a:xfrm>
          <a:prstGeom prst="rect">
            <a:avLst/>
          </a:prstGeom>
          <a:solidFill>
            <a:srgbClr val="33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89720" y="1691640"/>
            <a:ext cx="891539" cy="18288"/>
          </a:xfrm>
          <a:prstGeom prst="rect">
            <a:avLst/>
          </a:prstGeom>
          <a:solidFill>
            <a:srgbClr val="33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35490" y="1691640"/>
            <a:ext cx="18288" cy="2194560"/>
          </a:xfrm>
          <a:prstGeom prst="rect">
            <a:avLst/>
          </a:prstGeom>
          <a:solidFill>
            <a:srgbClr val="33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45262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0B0"/>
                </a:solidFill>
              </a:rPr>
              <a:t>L1 / L2 consumen via sync-l0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Arquitectura del sistema: L0 / L1 / L2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L0 (este repo): patrones universales, habilidades, agentes y reglas Detekt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L1 (libs compartidas): autoridad de versiones, convenciones, sobreescrituras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L2 (aplicaciones): habilidades específicas, agentes de dominio, overrides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Distribución mediante registro SHA-256 + manifiesto + motor de sincronización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Proyectos descendentes excluyen entradas individualmente: ausencia = exclusión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280160"/>
            <a:ext cx="4663440" cy="1463040"/>
          </a:xfrm>
          <a:prstGeom prst="rect">
            <a:avLst/>
          </a:prstGeom>
          <a:solidFill>
            <a:srgbClr val="1E3852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1280160"/>
            <a:ext cx="73152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13716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L0  —  AndroidCommonDoc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71907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Patrones · Skills · Agentes · Reglas Detekt · MCP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926079"/>
            <a:ext cx="3931920" cy="1280160"/>
          </a:xfrm>
          <a:prstGeom prst="rect">
            <a:avLst/>
          </a:prstGeom>
          <a:solidFill>
            <a:srgbClr val="1E3852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2926079"/>
            <a:ext cx="73152" cy="1280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017520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</a:rPr>
              <a:t>L1  —  Libs compartidas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364991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Versiones · Convenciones · Overrides L0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4389120"/>
            <a:ext cx="3200400" cy="1188720"/>
          </a:xfrm>
          <a:prstGeom prst="rect">
            <a:avLst/>
          </a:prstGeom>
          <a:solidFill>
            <a:srgbClr val="1E3852"/>
          </a:solidFill>
          <a:ln w="2540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4389120"/>
            <a:ext cx="73152" cy="1188720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4480559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39612"/>
                </a:solidFill>
              </a:rPr>
              <a:t>L2  —  App / proyecto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482803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Skills específicas · Agentes de dominio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0B0"/>
                </a:solidFill>
              </a:rPr>
              <a:t>↓  sync-l0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233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0B0"/>
                </a:solidFill>
              </a:rPr>
              <a:t>↓  sync-l0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Stack tecnológico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Kotlin Multiplatform — Android · Desktop · iOS · macOS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Detekt: reglas AST puras, sin resolución de tipos (evita bug 8882)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Node.js TypeScript: servidor MCP, 17 herramientas, Vitest 653/653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Claude Code + GitHub Copilot: 33 habilidades, 34 plantillas Copilot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PowerShell + Bash: scripts con paridad verificada por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280160"/>
            <a:ext cx="2286000" cy="1569720"/>
          </a:xfrm>
          <a:prstGeom prst="rect">
            <a:avLst/>
          </a:prstGeom>
          <a:solidFill>
            <a:srgbClr val="1E3852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128016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371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Kotlin
Multiplatform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74519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0B0"/>
                </a:solidFill>
              </a:rPr>
              <a:t>Android · iOS · Desktop · macOS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280160"/>
            <a:ext cx="2286000" cy="1569720"/>
          </a:xfrm>
          <a:prstGeom prst="rect">
            <a:avLst/>
          </a:prstGeom>
          <a:solidFill>
            <a:srgbClr val="1E3852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280160"/>
            <a:ext cx="22860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371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Detekt
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874519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0B0"/>
                </a:solidFill>
              </a:rPr>
              <a:t>13 reglas AST · L0/L1 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987040"/>
            <a:ext cx="2286000" cy="1569720"/>
          </a:xfrm>
          <a:prstGeom prst="rect">
            <a:avLst/>
          </a:prstGeom>
          <a:solidFill>
            <a:srgbClr val="1E3852"/>
          </a:solidFill>
          <a:ln w="1524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987040"/>
            <a:ext cx="2286000" cy="45720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0784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2"/>
                </a:solidFill>
              </a:rPr>
              <a:t>Node.js
TypeScript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581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0B0"/>
                </a:solidFill>
              </a:rPr>
              <a:t>MCP server · Vitest · 17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2987040"/>
            <a:ext cx="2286000" cy="1569720"/>
          </a:xfrm>
          <a:prstGeom prst="rect">
            <a:avLst/>
          </a:prstGeom>
          <a:solidFill>
            <a:srgbClr val="1E3852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2987040"/>
            <a:ext cx="2286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30784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Claude Code
Copilot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581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0B0"/>
                </a:solidFill>
              </a:rPr>
              <a:t>33 skills · 34 templates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4693920"/>
            <a:ext cx="2286000" cy="1569720"/>
          </a:xfrm>
          <a:prstGeom prst="rect">
            <a:avLst/>
          </a:prstGeom>
          <a:solidFill>
            <a:srgbClr val="1E3852"/>
          </a:solidFill>
          <a:ln w="1524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560" y="4693920"/>
            <a:ext cx="2286000" cy="457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4785359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</a:rPr>
              <a:t>Bash
PowerShell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2882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0B0"/>
                </a:solidFill>
              </a:rPr>
              <a:t>Cross-platform · paridad verificada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4693920"/>
            <a:ext cx="2286000" cy="1569720"/>
          </a:xfrm>
          <a:prstGeom prst="rect">
            <a:avLst/>
          </a:prstGeom>
          <a:solidFill>
            <a:srgbClr val="1E3852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9720" y="4693920"/>
            <a:ext cx="22860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1160" y="4785359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GitHub
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52882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0B0"/>
                </a:solidFill>
              </a:rPr>
              <a:t>4 reusable workflows · CI/CD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Flujo de trabajo con habilidades de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Desarrollador escribe /test core:domain en Claude Code o Copilot Chat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El agente lee SKILL.md e invoca el script multiplataforma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El script ejecuta Gradle, analiza XML y extrae errores estructurados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El agente recibe ~2 000 tokens de señal (no ~50 000 de logs en bruto)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La misma habilidad funciona en Windows (PowerShell) y macOS/Linux (Bash)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325880"/>
            <a:ext cx="4480560" cy="1005840"/>
          </a:xfrm>
          <a:prstGeom prst="rect">
            <a:avLst/>
          </a:prstGeom>
          <a:solidFill>
            <a:srgbClr val="1E38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132588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139903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👤  Desarrollador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176479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/test core:domain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35000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0B0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2560320"/>
            <a:ext cx="4480560" cy="1005840"/>
          </a:xfrm>
          <a:prstGeom prst="rect">
            <a:avLst/>
          </a:prstGeom>
          <a:solidFill>
            <a:srgbClr val="1E3852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2560320"/>
            <a:ext cx="64008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263347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🤖  Agente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299923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Lee SKILL.md · invoca 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8444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0B0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794760"/>
            <a:ext cx="4480560" cy="1005840"/>
          </a:xfrm>
          <a:prstGeom prst="rect">
            <a:avLst/>
          </a:prstGeom>
          <a:solidFill>
            <a:srgbClr val="1E3852"/>
          </a:solidFill>
          <a:ln w="1905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3794760"/>
            <a:ext cx="64008" cy="1005840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4032" y="38679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2"/>
                </a:solidFill>
              </a:rPr>
              <a:t>⚙️  Script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23367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Gradle · XML → resumen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81888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0B0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5029200"/>
            <a:ext cx="4480560" cy="1005840"/>
          </a:xfrm>
          <a:prstGeom prst="rect">
            <a:avLst/>
          </a:prstGeom>
          <a:solidFill>
            <a:srgbClr val="1E3852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0" y="5029200"/>
            <a:ext cx="64008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14032" y="510235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📊  Resultado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546811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~2K tokens · tabla Markdown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Reglas de arquitectura Detekt — 13 reglas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Estado y exposición: SealedUiState · MutableStateFlowExposed · WhileSubscribedTimeout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Límites del ViewModel: NoPlatformDeps · NoHardcodedStrings · NoHardcodedDispatchers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Corrutinas: CancellationExceptionRethrow · NoRunCatching · NoSilentCatch · NoLaunchInInit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Guardias de arquitectura: NoChannelForUiEvents · NoChannelForNavigation · NoMagicNumbers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Configuración base L0 activa; L1 sobreescribe solo lo que necesita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234439"/>
            <a:ext cx="2286000" cy="2468879"/>
          </a:xfrm>
          <a:prstGeom prst="rect">
            <a:avLst/>
          </a:prstGeom>
          <a:solidFill>
            <a:srgbClr val="1E3852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1234439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1325880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Estado y Exposición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1618487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0B0"/>
                </a:solidFill>
              </a:rPr>
              <a:t>3 reglas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76288" y="1874519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847088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SealedUiState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221284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185416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MutableStateFlowExposed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76288" y="255117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523744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WhileSubscribedTimeout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234439"/>
            <a:ext cx="2286000" cy="2468879"/>
          </a:xfrm>
          <a:prstGeom prst="rect">
            <a:avLst/>
          </a:prstGeom>
          <a:solidFill>
            <a:srgbClr val="1E3852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1234439"/>
            <a:ext cx="22860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1325880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Límites ViewModel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8" y="1618487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0B0"/>
                </a:solidFill>
              </a:rPr>
              <a:t>3 reglas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99448" y="1874519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1847088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NoPlatformDeps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99448" y="2212848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2185416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NoHardcodedStrings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99448" y="2551176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64040" y="2523744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NoHardcodedDispatchers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3840479"/>
            <a:ext cx="2286000" cy="2468879"/>
          </a:xfrm>
          <a:prstGeom prst="rect">
            <a:avLst/>
          </a:prstGeom>
          <a:solidFill>
            <a:srgbClr val="1E3852"/>
          </a:solidFill>
          <a:ln w="1524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66560" y="3840479"/>
            <a:ext cx="2286000" cy="45720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6288" y="3931919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2"/>
                </a:solidFill>
              </a:rPr>
              <a:t>Corrutinas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4224527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0B0"/>
                </a:solidFill>
              </a:rPr>
              <a:t>4 reglas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76288" y="4480559"/>
            <a:ext cx="109728" cy="109728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4453127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CancellationExceptionRethrow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76288" y="4818888"/>
            <a:ext cx="109728" cy="109728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4791455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NoRunCatching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76288" y="5157216"/>
            <a:ext cx="109728" cy="109728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5129783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NoSilentCatch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76288" y="5495544"/>
            <a:ext cx="109728" cy="109728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0" y="5468111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NoLaunchInInit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3840479"/>
            <a:ext cx="2286000" cy="2468879"/>
          </a:xfrm>
          <a:prstGeom prst="rect">
            <a:avLst/>
          </a:prstGeom>
          <a:solidFill>
            <a:srgbClr val="1E3852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89720" y="3840479"/>
            <a:ext cx="2286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99448" y="3931919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Guardias Arquitectura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9448" y="4224527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0B0"/>
                </a:solidFill>
              </a:rPr>
              <a:t>3 reglas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99448" y="4480559"/>
            <a:ext cx="109728" cy="10972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64040" y="4453127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NoChannelForUiEvents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99448" y="4818888"/>
            <a:ext cx="109728" cy="10972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64040" y="4791455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NoChannelForNavigation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99448" y="5157216"/>
            <a:ext cx="109728" cy="10972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5129783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NoMagicNumbers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Pipeline de CI/CD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4 workflows reutilizables: commit-lint, recursos, seguridad KMP, guardias de arquitectura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Hooks Claude Code: Detekt en tiempo real en cada escritura de archivo y 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quality-gate-orchestrator: informe unificado de 5 puertas de calidad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Guardias Konsist: nomenclatura, límites de capas, aplicación de feature gates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653/653 tests del servidor MCP en verde; cero fallos en la línea 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325880"/>
            <a:ext cx="1188720" cy="1371600"/>
          </a:xfrm>
          <a:prstGeom prst="rect">
            <a:avLst/>
          </a:prstGeom>
          <a:solidFill>
            <a:srgbClr val="1E38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1325880"/>
            <a:ext cx="1188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4173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Escritura
de código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920239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Hook Detekt
en tiempo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4424" y="1783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A0B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325880"/>
            <a:ext cx="1188720" cy="1371600"/>
          </a:xfrm>
          <a:prstGeom prst="rect">
            <a:avLst/>
          </a:prstGeom>
          <a:solidFill>
            <a:srgbClr val="1E3852"/>
          </a:solidFill>
          <a:ln w="1905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325880"/>
            <a:ext cx="1188720" cy="54864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173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39612"/>
                </a:solidFill>
              </a:rPr>
              <a:t>Git 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920239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Pre-commit
validation hook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1783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A0B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325880"/>
            <a:ext cx="1188720" cy="1371600"/>
          </a:xfrm>
          <a:prstGeom prst="rect">
            <a:avLst/>
          </a:prstGeom>
          <a:solidFill>
            <a:srgbClr val="1E3852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1325880"/>
            <a:ext cx="1188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14173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Pull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1920239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Reusable
workflows 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90504" y="1783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A0B0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55680" y="1325880"/>
            <a:ext cx="1188720" cy="1371600"/>
          </a:xfrm>
          <a:prstGeom prst="rect">
            <a:avLst/>
          </a:prstGeom>
          <a:solidFill>
            <a:srgbClr val="1E3852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55680" y="1325880"/>
            <a:ext cx="118872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0" y="1417319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59B6"/>
                </a:solidFill>
              </a:rPr>
              <a:t>Puerta
de calidad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1920239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5 gates
PASS / FAIL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063240"/>
            <a:ext cx="484632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Reusable workflows incluidos: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566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▸ reusable-commit-lint.yml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5661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▸ reusable-lint-resources.yml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977639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▸ reusable-kmp-safety-check.yml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3977639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▸ reusable-architecture-guards.yml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Estrategia de pruebas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Unitarias: Vitest 653/653 para MCP · Gradle 76/76 para reglas Detekt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Estructurales: Konsist verifica nomenclatura, límites de capas y feature gates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Cobertura: Kover (KMP) o JaCoCo con ejecución paralela y análisis de lagunas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Integración: estructura de docs, validación CLAUDE.md e integridad del vault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Habilidad /pre-pr: lint + pruebas + formato de commit antes de cada merge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280160"/>
            <a:ext cx="4114800" cy="868680"/>
          </a:xfrm>
          <a:prstGeom prst="rect">
            <a:avLst/>
          </a:prstGeom>
          <a:solidFill>
            <a:srgbClr val="1E38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1280160"/>
            <a:ext cx="54864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13533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Unitarias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169163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653/653 MCP · 76/76 Detekt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377439"/>
            <a:ext cx="3200400" cy="868680"/>
          </a:xfrm>
          <a:prstGeom prst="rect">
            <a:avLst/>
          </a:prstGeom>
          <a:solidFill>
            <a:srgbClr val="1E3852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2377439"/>
            <a:ext cx="54864" cy="868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245059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Integración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2788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doc-structure · CLAUDE.md · vault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474720"/>
            <a:ext cx="2286000" cy="868680"/>
          </a:xfrm>
          <a:prstGeom prst="rect">
            <a:avLst/>
          </a:prstGeom>
          <a:solidFill>
            <a:srgbClr val="1E3852"/>
          </a:solidFill>
          <a:ln w="1905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474720"/>
            <a:ext cx="54864" cy="868680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35478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2"/>
                </a:solidFill>
              </a:rPr>
              <a:t>Estructurales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8862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Konsist guards · 17 tests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4572000"/>
            <a:ext cx="1371600" cy="868680"/>
          </a:xfrm>
          <a:prstGeom prst="rect">
            <a:avLst/>
          </a:prstGeom>
          <a:solidFill>
            <a:srgbClr val="1E3852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3920" y="4572000"/>
            <a:ext cx="54864" cy="8686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4645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Manual / E2E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9834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/pre-pr skill antes de merge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Servidor MCP e inteligencia documental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17 herramientas sobre transporte stdio; integra con Claude Desktop y 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validate-all: ejecuta todos los scripts de validación → JSON estructurado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monitor-sources: monitoreo por niveles (GitHub API · Maven Central · docs)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Detección de versión: cuerpo del release analizado solo cuando hay cambio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Cambios en páginas de docs: hash SHA-256, sin escaneo de palabras clave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234439"/>
            <a:ext cx="2377440" cy="1691640"/>
          </a:xfrm>
          <a:prstGeom prst="rect">
            <a:avLst/>
          </a:prstGeom>
          <a:solidFill>
            <a:srgbClr val="1E385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1234439"/>
            <a:ext cx="23774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325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Validación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64591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validate-all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9476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verify-kmp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2494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check-version-sync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5511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validate-skills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1234439"/>
            <a:ext cx="2377440" cy="1691640"/>
          </a:xfrm>
          <a:prstGeom prst="rect">
            <a:avLst/>
          </a:prstGeom>
          <a:solidFill>
            <a:srgbClr val="1E385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1234439"/>
            <a:ext cx="237744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325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Monitoreo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164591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monitor-sources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9476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check-doc-freshness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3108959"/>
            <a:ext cx="2377440" cy="1691640"/>
          </a:xfrm>
          <a:prstGeom prst="rect">
            <a:avLst/>
          </a:prstGeom>
          <a:solidFill>
            <a:srgbClr val="1E3852"/>
          </a:solidFill>
          <a:ln w="1270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3108959"/>
            <a:ext cx="2377440" cy="45720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2003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12"/>
                </a:solidFill>
              </a:rPr>
              <a:t>Generación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52043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generate-detekt-rules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822191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ingest-content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3108959"/>
            <a:ext cx="2377440" cy="1691640"/>
          </a:xfrm>
          <a:prstGeom prst="rect">
            <a:avLst/>
          </a:prstGeom>
          <a:solidFill>
            <a:srgbClr val="1E3852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26880" y="3108959"/>
            <a:ext cx="237744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320039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</a:rPr>
              <a:t>Vault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52043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sync-vault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822191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vault-status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41239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validate-vault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4983479"/>
            <a:ext cx="2377440" cy="1691640"/>
          </a:xfrm>
          <a:prstGeom prst="rect">
            <a:avLst/>
          </a:prstGeom>
          <a:solidFill>
            <a:srgbClr val="1E3852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66560" y="4983479"/>
            <a:ext cx="2377440" cy="457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507491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C40F"/>
                </a:solidFill>
              </a:rPr>
              <a:t>Utilidad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39495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find-pattern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6967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setup-check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998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rate-limit-status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63002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· script-parity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Impacto en el negocio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Reducción de ~25× en tokens por ejecución de pruebas asistida por 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Violaciones de arquitectura en compilación: cero ciclos extra de revisión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Nuevo proyecto configurado en minutos, no en semanas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Deprecaciones de librerías detectadas automáticamente antes del lanzamiento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Cada nueva app hereda el pipeline CI completo con una sola importación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280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Coste de tokens por ejecución de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618488"/>
            <a:ext cx="4846320" cy="18288"/>
          </a:xfrm>
          <a:prstGeom prst="rect">
            <a:avLst/>
          </a:prstGeom>
          <a:solidFill>
            <a:srgbClr val="8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783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Sin toolkit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075688"/>
            <a:ext cx="4480560" cy="274320"/>
          </a:xfrm>
          <a:prstGeom prst="rect">
            <a:avLst/>
          </a:prstGeom>
          <a:solidFill>
            <a:srgbClr val="1E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2075688"/>
            <a:ext cx="4480560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20574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~50 000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606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Con toolkit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898648"/>
            <a:ext cx="4480560" cy="274320"/>
          </a:xfrm>
          <a:prstGeom prst="rect">
            <a:avLst/>
          </a:prstGeom>
          <a:solidFill>
            <a:srgbClr val="1E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2898648"/>
            <a:ext cx="179222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37222" y="28803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~2 000 tokens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657600"/>
            <a:ext cx="4846320" cy="18288"/>
          </a:xfrm>
          <a:prstGeom prst="rect">
            <a:avLst/>
          </a:prstGeom>
          <a:solidFill>
            <a:srgbClr val="8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794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Otros indicadores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4160520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4114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Onboarding: &lt; 15 min por proyecto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800600"/>
            <a:ext cx="109728" cy="109728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7728" y="4754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Violaciones en CI: ~30 min ahorrados por violación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5440679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67728" y="5394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Duplicación: Scripts compartidos entre todos los proyectos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Casos de uso reales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/pre-pr: lint · pruebas · formato de commit · tabla resumen antes del PR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/auto-cover: genera pruebas para líneas sin cobertura automáticamente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/sync-l0: propagó 4 nuevas habilidades a DawSync en menos de un minuto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Hook Detekt bloqueó un commit con CancellationException silenciada (Copilot)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quality-gate-orchestrator encontró 3 contadores desactualizados en README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280160"/>
            <a:ext cx="2395728" cy="2468879"/>
          </a:xfrm>
          <a:prstGeom prst="rect">
            <a:avLst/>
          </a:prstGeom>
          <a:solidFill>
            <a:srgbClr val="1E38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1280160"/>
            <a:ext cx="239572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1389888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/pre-pr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1783080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Orquesta lint + tests + commit-lint
antes de cada merge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5168" y="1280160"/>
            <a:ext cx="2395728" cy="2468879"/>
          </a:xfrm>
          <a:prstGeom prst="rect">
            <a:avLst/>
          </a:prstGeom>
          <a:solidFill>
            <a:srgbClr val="1E3852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45168" y="1280160"/>
            <a:ext cx="2395728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4896" y="1389888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/auto-cover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1783080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Genera tests para líneas
sin cobertura identificadas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931920"/>
            <a:ext cx="2395728" cy="2468879"/>
          </a:xfrm>
          <a:prstGeom prst="rect">
            <a:avLst/>
          </a:prstGeom>
          <a:solidFill>
            <a:srgbClr val="1E3852"/>
          </a:solidFill>
          <a:ln w="1905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3931920"/>
            <a:ext cx="2395728" cy="54864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041648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612"/>
                </a:solidFill>
              </a:rPr>
              <a:t>/sync-l0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4434840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Propaga habilidades L0
a proyectos descendentes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45168" y="3931920"/>
            <a:ext cx="2395728" cy="2468879"/>
          </a:xfrm>
          <a:prstGeom prst="rect">
            <a:avLst/>
          </a:prstGeom>
          <a:solidFill>
            <a:srgbClr val="1E3852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45168" y="3931920"/>
            <a:ext cx="2395728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54896" y="4041648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B59B6"/>
                </a:solidFill>
              </a:rPr>
              <a:t>/sbom-scan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4896" y="4434840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Genera SBOM + escanea
CVEs con Trivy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Seguridad y rendimiento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Generación de SBOM (CycloneDX) y análisis de CVE (Trivy) via /sbom-scan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Konsist: FeatureAccess.GRANTED solo lo devuelven implementaciones autorizadas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Sin secretos en el código: Detekt NoHardcodedStrings + Konsist DS-PROD1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Ejecución paralela de pruebas: una invocación Gradle, 2-3× más rápido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Rate limiting servidor MCP: 30 llamadas/min protege APIs externas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23443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Seguridad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645919"/>
            <a:ext cx="256032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7144" y="1618488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6184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SBOM generado en cada release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212848"/>
            <a:ext cx="256032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67144" y="2185416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1854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Sin secretos en código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779776"/>
            <a:ext cx="256032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7144" y="2752344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7523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Feature gate es obligatorio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346703"/>
            <a:ext cx="256032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67144" y="3319272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3192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CVE scan en CI con Trivy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913631"/>
            <a:ext cx="256032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67144" y="3886200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886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NoGlobalScope: sin fugas de scope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1234439"/>
            <a:ext cx="27432" cy="5212079"/>
          </a:xfrm>
          <a:prstGeom prst="rect">
            <a:avLst/>
          </a:prstGeom>
          <a:solidFill>
            <a:srgbClr val="8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123443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2"/>
                </a:solidFill>
              </a:rPr>
              <a:t>Rendimiento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1645919"/>
            <a:ext cx="256032" cy="256032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1784" y="1618488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16184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Tokens: 50K → 2K (×25)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2331720"/>
            <a:ext cx="256032" cy="256032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01784" y="2304288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23042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Tests paralelos: 2-3× más rápido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3017520"/>
            <a:ext cx="256032" cy="256032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01784" y="2990088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2990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Rate limiting: 30 calls/min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92640" y="3703320"/>
            <a:ext cx="256032" cy="256032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01784" y="3675887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67588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CI reutilizable: 1 archivo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Adopción: primeros pasos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1. Clonar el repositorio y configurar ANDROID_COMMON_DOC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2. Ejecutar setup-toolkit.sh --project-root /tu/proyecto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3. Añadir l0-manifest.json y declarar entradas L0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4. Ejecutar /sync-l0 para materializar las habilidades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5. Añadir id("androidcommondoc.toolkit") al plugin de Gradle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234439"/>
            <a:ext cx="4846320" cy="950975"/>
          </a:xfrm>
          <a:prstGeom prst="rect">
            <a:avLst/>
          </a:prstGeom>
          <a:solidFill>
            <a:srgbClr val="1E385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1234439"/>
            <a:ext cx="502920" cy="9509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75704" y="1280160"/>
            <a:ext cx="48463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1280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 clone + export ANDROID_COMMON_DOC=...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16276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0B0"/>
                </a:solidFill>
              </a:rPr>
              <a:t>Configura la variable de entorno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2276856"/>
            <a:ext cx="4846320" cy="950975"/>
          </a:xfrm>
          <a:prstGeom prst="rect">
            <a:avLst/>
          </a:prstGeom>
          <a:solidFill>
            <a:srgbClr val="1E385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2276856"/>
            <a:ext cx="502920" cy="9509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75704" y="2322575"/>
            <a:ext cx="48463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32257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bash setup-toolkit.sh --project-root /ruta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670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0B0"/>
                </a:solidFill>
              </a:rPr>
              <a:t>Instala hooks, plugin y Copilot instructions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319272"/>
            <a:ext cx="4846320" cy="950975"/>
          </a:xfrm>
          <a:prstGeom prst="rect">
            <a:avLst/>
          </a:prstGeom>
          <a:solidFill>
            <a:srgbClr val="1E385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3319272"/>
            <a:ext cx="502920" cy="9509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75704" y="3364991"/>
            <a:ext cx="48463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36499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Crea l0-manifest.json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71246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0B0"/>
                </a:solidFill>
              </a:rPr>
              <a:t>Declara qué habilidades L0 sincronizar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4361688"/>
            <a:ext cx="4846320" cy="950975"/>
          </a:xfrm>
          <a:prstGeom prst="rect">
            <a:avLst/>
          </a:prstGeom>
          <a:solidFill>
            <a:srgbClr val="1E385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66560" y="4361688"/>
            <a:ext cx="502920" cy="9509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75704" y="4407407"/>
            <a:ext cx="48463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440740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/sync-l0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7548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0B0"/>
                </a:solidFill>
              </a:rPr>
              <a:t>Materializa habilidades con tracking de versión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5404103"/>
            <a:ext cx="4846320" cy="950975"/>
          </a:xfrm>
          <a:prstGeom prst="rect">
            <a:avLst/>
          </a:prstGeom>
          <a:solidFill>
            <a:srgbClr val="1E385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66560" y="5404103"/>
            <a:ext cx="502920" cy="9509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75704" y="5449823"/>
            <a:ext cx="48463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544982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id("androidcommondoc.toolkit")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579729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0B0"/>
                </a:solidFill>
              </a:rPr>
              <a:t>Activa las 13 reglas Detekt en compilación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64008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⏱  &lt; 15 minutos para un proyecto nuevo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Hoja de ruta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M008: emitBaselineConfig → MCP generate-detekt-rules (regeneración automática)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M008: workflows CI reutilizables adoptados en DawSync (pre-pr, git-flow, commit-lint)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Monitoreo v2: diferencias de changelog por versión + referencias cruzadas de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Plantillas Konsist ampliadas con más contratos arquitectónicos de DawSync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Explorar distribución como plugin Gradle publicado en Maven Central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965960"/>
            <a:ext cx="4846320" cy="36576"/>
          </a:xfrm>
          <a:prstGeom prst="rect">
            <a:avLst/>
          </a:prstGeom>
          <a:solidFill>
            <a:srgbClr val="8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4552" y="1828800"/>
            <a:ext cx="219456" cy="21945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2194560"/>
            <a:ext cx="1432560" cy="4023360"/>
          </a:xfrm>
          <a:prstGeom prst="rect">
            <a:avLst/>
          </a:prstGeom>
          <a:solidFill>
            <a:srgbClr val="1E3852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2194560"/>
            <a:ext cx="14325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286000"/>
            <a:ext cx="124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M007
✓ Hecho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53512"/>
            <a:ext cx="124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A0B0"/>
                </a:solidFill>
              </a:rPr>
              <a:t>Completado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291840"/>
            <a:ext cx="143256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429000"/>
            <a:ext cx="1249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13 reglas Detekt
CI workflows
Git Flow skills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79992" y="1828800"/>
            <a:ext cx="219456" cy="219456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73440" y="2194560"/>
            <a:ext cx="1432560" cy="4023360"/>
          </a:xfrm>
          <a:prstGeom prst="rect">
            <a:avLst/>
          </a:prstGeom>
          <a:solidFill>
            <a:srgbClr val="1E3852"/>
          </a:solidFill>
          <a:ln w="1524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73440" y="2194560"/>
            <a:ext cx="1432560" cy="45720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64880" y="2286000"/>
            <a:ext cx="124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39612"/>
                </a:solidFill>
              </a:rPr>
              <a:t>M008
→ Próximo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4880" y="2953512"/>
            <a:ext cx="124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A0B0"/>
                </a:solidFill>
              </a:rPr>
              <a:t>En curso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73440" y="3291840"/>
            <a:ext cx="1432560" cy="27432"/>
          </a:xfrm>
          <a:prstGeom prst="rect">
            <a:avLst/>
          </a:prstGeom>
          <a:solidFill>
            <a:srgbClr val="F39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64880" y="3429000"/>
            <a:ext cx="1249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emitBaselineConfig
DawSync CI adoption
Monitoreo v2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5432" y="1828800"/>
            <a:ext cx="219456" cy="219456"/>
          </a:xfrm>
          <a:prstGeom prst="rect">
            <a:avLst/>
          </a:prstGeom>
          <a:solidFill>
            <a:srgbClr val="8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8880" y="2194560"/>
            <a:ext cx="1432560" cy="4023360"/>
          </a:xfrm>
          <a:prstGeom prst="rect">
            <a:avLst/>
          </a:prstGeom>
          <a:solidFill>
            <a:srgbClr val="1E3852"/>
          </a:solidFill>
          <a:ln w="15240">
            <a:solidFill>
              <a:srgbClr val="88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8880" y="2194560"/>
            <a:ext cx="1432560" cy="45720"/>
          </a:xfrm>
          <a:prstGeom prst="rect">
            <a:avLst/>
          </a:prstGeom>
          <a:solidFill>
            <a:srgbClr val="8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80320" y="2286000"/>
            <a:ext cx="124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8A0B0"/>
                </a:solidFill>
              </a:rPr>
              <a:t>M009
◦ Futuro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0320" y="2953512"/>
            <a:ext cx="124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A0B0"/>
                </a:solidFill>
              </a:rPr>
              <a:t>Planificado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88880" y="3291840"/>
            <a:ext cx="1432560" cy="27432"/>
          </a:xfrm>
          <a:prstGeom prst="rect">
            <a:avLst/>
          </a:prstGeom>
          <a:solidFill>
            <a:srgbClr val="8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80320" y="3429000"/>
            <a:ext cx="1249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Konsist plantillas
Maven Central
Plugin público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869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Próximos pasos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03504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5577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212080" cy="5577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Prueba /pre-pr en tu proyecto actual hoy mismo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756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Añade l0-manifest.json y ejecuta /sync-l0 (33 habilidades disponibles)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614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Revisa el catálogo de reglas Detekt: identifica las relevantes para tu código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4472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Conecta Claude Desktop al servidor MCP para validación programática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33088"/>
            <a:ext cx="914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532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Consulta docs/guides/detekt-config.md o abre un issue en el repositorio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2344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¿Por dónde empezar?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581912"/>
            <a:ext cx="48463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1783080"/>
            <a:ext cx="1005840" cy="914400"/>
          </a:xfrm>
          <a:prstGeom prst="rect">
            <a:avLst/>
          </a:prstGeom>
          <a:solidFill>
            <a:srgbClr val="1E3852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856231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Hoy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1828800"/>
            <a:ext cx="3703320" cy="822960"/>
          </a:xfrm>
          <a:prstGeom prst="rect">
            <a:avLst/>
          </a:prstGeom>
          <a:solidFill>
            <a:srgbClr val="1E385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856231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/pre-pr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2128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Sin configuración previa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880360"/>
            <a:ext cx="1005840" cy="914400"/>
          </a:xfrm>
          <a:prstGeom prst="rect">
            <a:avLst/>
          </a:prstGeom>
          <a:solidFill>
            <a:srgbClr val="1E3852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9535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Semana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2926079"/>
            <a:ext cx="3703320" cy="822960"/>
          </a:xfrm>
          <a:prstGeom prst="rect">
            <a:avLst/>
          </a:prstGeom>
          <a:solidFill>
            <a:srgbClr val="1E3852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9535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/sync-l0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31012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l0-manifest.json + 33 habilidades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3977639"/>
            <a:ext cx="1005840" cy="914400"/>
          </a:xfrm>
          <a:prstGeom prst="rect">
            <a:avLst/>
          </a:prstGeom>
          <a:solidFill>
            <a:srgbClr val="1E3852"/>
          </a:solidFill>
          <a:ln w="1524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050791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612"/>
                </a:solidFill>
              </a:rPr>
              <a:t>Semana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4023359"/>
            <a:ext cx="3703320" cy="822960"/>
          </a:xfrm>
          <a:prstGeom prst="rect">
            <a:avLst/>
          </a:prstGeom>
          <a:solidFill>
            <a:srgbClr val="1E3852"/>
          </a:solidFill>
          <a:ln w="1016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4050791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12"/>
                </a:solidFill>
              </a:rPr>
              <a:t>Detekt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407407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Plugin de convención + 13 reglas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5074920"/>
            <a:ext cx="1005840" cy="914400"/>
          </a:xfrm>
          <a:prstGeom prst="rect">
            <a:avLst/>
          </a:prstGeom>
          <a:solidFill>
            <a:srgbClr val="1E3852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51480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59B6"/>
                </a:solidFill>
              </a:rPr>
              <a:t>Semana 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9560" y="5120640"/>
            <a:ext cx="3703320" cy="822960"/>
          </a:xfrm>
          <a:prstGeom prst="rect">
            <a:avLst/>
          </a:prstGeom>
          <a:solidFill>
            <a:srgbClr val="1E3852"/>
          </a:solidFill>
          <a:ln w="1016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51480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MCP 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50468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npm start + configurar Claude Desktop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457200"/>
            <a:ext cx="3657600" cy="36576"/>
          </a:xfrm>
          <a:prstGeom prst="rect">
            <a:avLst/>
          </a:prstGeom>
          <a:solidFill>
            <a:srgbClr val="0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23960" y="914400"/>
            <a:ext cx="3657600" cy="36576"/>
          </a:xfrm>
          <a:prstGeom prst="rect">
            <a:avLst/>
          </a:prstGeom>
          <a:solidFill>
            <a:srgbClr val="0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1371600"/>
            <a:ext cx="3657600" cy="36576"/>
          </a:xfrm>
          <a:prstGeom prst="rect">
            <a:avLst/>
          </a:prstGeom>
          <a:solidFill>
            <a:srgbClr val="0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12680" y="1828800"/>
            <a:ext cx="3657600" cy="36576"/>
          </a:xfrm>
          <a:prstGeom prst="rect">
            <a:avLst/>
          </a:prstGeom>
          <a:solidFill>
            <a:srgbClr val="0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07040" y="2286000"/>
            <a:ext cx="3657600" cy="36576"/>
          </a:xfrm>
          <a:prstGeom prst="rect">
            <a:avLst/>
          </a:prstGeom>
          <a:solidFill>
            <a:srgbClr val="0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201400" y="2743200"/>
            <a:ext cx="3657600" cy="36576"/>
          </a:xfrm>
          <a:prstGeom prst="rect">
            <a:avLst/>
          </a:prstGeom>
          <a:solidFill>
            <a:srgbClr val="0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1463040"/>
            <a:ext cx="8503920" cy="411480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1463040"/>
            <a:ext cx="91440" cy="411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8288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B4D8"/>
                </a:solidFill>
              </a:rPr>
              <a:t>Gracias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26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E0EF"/>
                </a:solidFill>
              </a:rPr>
              <a:t>github.com/oscardlfr/AndroidCommonDoc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docs/  ·  skills/  ·  mcp-server/  ·  detekt-rules/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4224528"/>
            <a:ext cx="6675120" cy="27432"/>
          </a:xfrm>
          <a:prstGeom prst="rect">
            <a:avLst/>
          </a:prstGeom>
          <a:solidFill>
            <a:srgbClr val="8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4343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A0B0"/>
                </a:solidFill>
              </a:rPr>
              <a:t>Preguntas bienvenidas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5029200"/>
            <a:ext cx="1737360" cy="822960"/>
          </a:xfrm>
          <a:prstGeom prst="rect">
            <a:avLst/>
          </a:prstGeom>
          <a:solidFill>
            <a:srgbClr val="1E385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50474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431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A0B0"/>
                </a:solidFill>
              </a:rPr>
              <a:t>Habilidades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5029200"/>
            <a:ext cx="1737360" cy="822960"/>
          </a:xfrm>
          <a:prstGeom prst="rect">
            <a:avLst/>
          </a:prstGeom>
          <a:solidFill>
            <a:srgbClr val="1E385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50474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431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A0B0"/>
                </a:solidFill>
              </a:rPr>
              <a:t>Reglas Detekt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79" y="5029200"/>
            <a:ext cx="1737360" cy="822960"/>
          </a:xfrm>
          <a:prstGeom prst="rect">
            <a:avLst/>
          </a:prstGeom>
          <a:solidFill>
            <a:srgbClr val="1E3852"/>
          </a:solidFill>
          <a:ln w="12700">
            <a:solidFill>
              <a:srgbClr val="F39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79" y="50474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9612"/>
                </a:solidFill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5431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A0B0"/>
                </a:solidFill>
              </a:rPr>
              <a:t>Herramientas MCP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5029200"/>
            <a:ext cx="1737360" cy="822960"/>
          </a:xfrm>
          <a:prstGeom prst="rect">
            <a:avLst/>
          </a:prstGeom>
          <a:solidFill>
            <a:srgbClr val="1E3852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50474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B59B6"/>
                </a:solidFill>
              </a:rPr>
              <a:t>653/653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431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A0B0"/>
                </a:solidFill>
              </a:rPr>
              <a:t>Tests en verde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